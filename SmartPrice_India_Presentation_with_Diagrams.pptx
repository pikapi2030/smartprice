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38" y="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400" b="1">
                <a:solidFill>
                  <a:srgbClr val="5BC0BE"/>
                </a:solidFill>
                <a:latin typeface="Arial"/>
              </a:defRPr>
            </a:pPr>
            <a:r>
              <a:t>SMARTPRICE INDIA</a:t>
            </a:r>
          </a:p>
          <a:p>
            <a:pPr>
              <a:spcBef>
                <a:spcPts val="1000"/>
              </a:spcBef>
              <a:defRPr sz="2800">
                <a:solidFill>
                  <a:srgbClr val="FFFFFF"/>
                </a:solidFill>
                <a:latin typeface="Arial"/>
              </a:defRPr>
            </a:pPr>
            <a:r>
              <a:t>Real-Time Price Comparison Platform</a:t>
            </a:r>
          </a:p>
          <a:p>
            <a:pPr>
              <a:spcBef>
                <a:spcPts val="3000"/>
              </a:spcBef>
              <a:defRPr sz="1800">
                <a:solidFill>
                  <a:srgbClr val="3A506B"/>
                </a:solidFill>
                <a:latin typeface="Arial"/>
              </a:defRPr>
            </a:pPr>
            <a:r>
              <a:t>Amazon India &amp; Flipkart Scraper with Intelligent Relevancy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solidFill>
              <a:srgbClr val="F4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THE RELEVANCY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2841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77977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B132B"/>
                </a:solidFill>
                <a:latin typeface="Arial"/>
              </a:defRPr>
            </a:pPr>
            <a:r>
              <a:t>01. Query Pollution</a:t>
            </a:r>
          </a:p>
          <a:p>
            <a:pPr>
              <a:lnSpc>
                <a:spcPct val="130000"/>
              </a:lnSpc>
              <a:defRPr sz="1500">
                <a:solidFill>
                  <a:srgbClr val="141928"/>
                </a:solidFill>
                <a:latin typeface="Arial"/>
              </a:defRPr>
            </a:pPr>
            <a:r>
              <a:t>Searching for premium devices (e.g. S24 Ultra) pulls in dozens of low-cost accessories (cases, screen protectors, chargers) in search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645920"/>
            <a:ext cx="332841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77977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1C2541"/>
                </a:solidFill>
                <a:latin typeface="Arial"/>
              </a:defRPr>
            </a:pPr>
            <a:r>
              <a:t>02. Cross-Model Matches</a:t>
            </a:r>
          </a:p>
          <a:p>
            <a:pPr>
              <a:lnSpc>
                <a:spcPct val="130000"/>
              </a:lnSpc>
              <a:defRPr sz="1500">
                <a:solidFill>
                  <a:srgbClr val="141928"/>
                </a:solidFill>
                <a:latin typeface="Arial"/>
              </a:defRPr>
            </a:pPr>
            <a:r>
              <a:t>Standard fuzzy string matching frequently pairs different product generations (e.g. Galaxy S25 with S24) due to overlapping character lengths.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1645920"/>
            <a:ext cx="332841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77977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3A506B"/>
                </a:solidFill>
                <a:latin typeface="Arial"/>
              </a:defRPr>
            </a:pPr>
            <a:r>
              <a:t>03. Scraper Reliability</a:t>
            </a:r>
          </a:p>
          <a:p>
            <a:pPr>
              <a:lnSpc>
                <a:spcPct val="130000"/>
              </a:lnSpc>
              <a:defRPr sz="1500">
                <a:solidFill>
                  <a:srgbClr val="141928"/>
                </a:solidFill>
                <a:latin typeface="Arial"/>
              </a:defRPr>
            </a:pPr>
            <a:r>
              <a:t>Frequent anti-bot blocking (CAPTCHAs, IP blocks) and slow concurrent execution times degrade real-time 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solidFill>
              <a:srgbClr val="F4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SYSTEM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B6CB0"/>
                </a:solidFill>
                <a:latin typeface="Arial"/>
              </a:defRPr>
            </a:pPr>
            <a:r>
              <a:t>FRONTEND (React + Vite)</a:t>
            </a:r>
          </a:p>
          <a:p>
            <a:pPr>
              <a:lnSpc>
                <a:spcPct val="130000"/>
              </a:lnSpc>
              <a:defRPr sz="1300">
                <a:solidFill>
                  <a:srgbClr val="141928"/>
                </a:solidFill>
                <a:latin typeface="Arial"/>
              </a:defRPr>
            </a:pPr>
            <a:r>
              <a:t>•  Dashboard UI (App.jsx)</a:t>
            </a:r>
            <a:br/>
            <a:r>
              <a:t>•  Filters (Matches, Sort, Pages)</a:t>
            </a:r>
            <a:br/>
            <a:r>
              <a:t>•  API Client (Axios Service)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66160" y="3017520"/>
            <a:ext cx="457200" cy="365760"/>
          </a:xfrm>
          <a:prstGeom prst="rightArrow">
            <a:avLst/>
          </a:prstGeom>
          <a:solidFill>
            <a:srgbClr val="4A5568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60520" y="1371600"/>
            <a:ext cx="3867912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35021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553C9A"/>
                </a:solidFill>
                <a:latin typeface="Arial"/>
              </a:defRPr>
            </a:pPr>
            <a:r>
              <a:t>BACKEND CORE (FastAPI)</a:t>
            </a:r>
          </a:p>
          <a:p>
            <a:pPr>
              <a:lnSpc>
                <a:spcPct val="130000"/>
              </a:lnSpc>
              <a:defRPr sz="1300">
                <a:solidFill>
                  <a:srgbClr val="141928"/>
                </a:solidFill>
                <a:latin typeface="Arial"/>
              </a:defRPr>
            </a:pPr>
            <a:r>
              <a:t>•  Endpoints (/api/search, clear)</a:t>
            </a:r>
            <a:br/>
            <a:r>
              <a:t>•  Scrape Controller (Threading)</a:t>
            </a:r>
            <a:br/>
            <a:r>
              <a:t>•  Matcher Engine (Fuzzy + Specs)</a:t>
            </a:r>
            <a:br/>
            <a:r>
              <a:t>•  Model Generation Validator</a:t>
            </a:r>
            <a:br/>
            <a:r>
              <a:t>•  Comparator Savings Analysis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65592" y="3017520"/>
            <a:ext cx="457200" cy="365760"/>
          </a:xfrm>
          <a:prstGeom prst="rightArrow">
            <a:avLst/>
          </a:prstGeom>
          <a:solidFill>
            <a:srgbClr val="4A5568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59952" y="146304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42832" y="164592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9B2C2C"/>
                </a:solidFill>
                <a:latin typeface="Arial"/>
              </a:defRPr>
            </a:pPr>
            <a:r>
              <a:t>WEBSITES SCRAPED</a:t>
            </a:r>
          </a:p>
          <a:p>
            <a:pPr>
              <a:lnSpc>
                <a:spcPct val="130000"/>
              </a:lnSpc>
              <a:defRPr sz="1300">
                <a:solidFill>
                  <a:srgbClr val="141928"/>
                </a:solidFill>
                <a:latin typeface="Arial"/>
              </a:defRPr>
            </a:pPr>
            <a:r>
              <a:t>•  Amazon India</a:t>
            </a:r>
            <a:br/>
            <a:r>
              <a:t>   - Selenium Driver</a:t>
            </a:r>
            <a:br/>
            <a:r>
              <a:t>   - Accessory keyword filter</a:t>
            </a:r>
            <a:br/>
            <a:r>
              <a:t>•  Flipkart Web</a:t>
            </a:r>
            <a:br/>
            <a:r>
              <a:t>   - Selenium Driver</a:t>
            </a:r>
            <a:br/>
            <a:r>
              <a:t>   - Container class resolver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07024" y="5257800"/>
            <a:ext cx="365760" cy="274320"/>
          </a:xfrm>
          <a:prstGeom prst="downArrow">
            <a:avLst/>
          </a:prstGeom>
          <a:solidFill>
            <a:srgbClr val="4A5568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46904" y="5577840"/>
            <a:ext cx="22860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38344" y="5715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4E52"/>
                </a:solidFill>
                <a:latin typeface="Arial"/>
              </a:defRPr>
            </a:pPr>
            <a:r>
              <a:t>DATABASE LAYER (SQLite)</a:t>
            </a:r>
          </a:p>
          <a:p>
            <a:pPr>
              <a:defRPr sz="1100">
                <a:solidFill>
                  <a:srgbClr val="141928"/>
                </a:solidFill>
                <a:latin typeface="Arial"/>
              </a:defRPr>
            </a:pPr>
            <a:r>
              <a:t>•  Search History &amp; Result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solidFill>
              <a:srgbClr val="F4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DATA FLOW &amp; SEQUENCE DIAGRAM</a:t>
            </a:r>
          </a:p>
        </p:txBody>
      </p:sp>
      <p:pic>
        <p:nvPicPr>
          <p:cNvPr id="4" name="Picture 3" descr="Sequenc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463040"/>
            <a:ext cx="91440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solidFill>
              <a:srgbClr val="F4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SCRAPER FILTERS &amp; OUTLIER 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C2541"/>
                </a:solidFill>
                <a:latin typeface="Arial"/>
              </a:defRPr>
            </a:pPr>
            <a:r>
              <a:t>Smart Accessory Filter</a:t>
            </a:r>
          </a:p>
          <a:p>
            <a:pPr>
              <a:lnSpc>
                <a:spcPct val="13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Filter list includes cases, chargers, tempered glass, straps, screen guards, film, and cables.</a:t>
            </a:r>
            <a:br/>
            <a:r>
              <a:t/>
            </a:r>
            <a:br/>
            <a:r>
              <a:t>- Query Bypass: If search query explicitly mentions an accessory (e.g. 'S24 charger'), filtering is bypassed.</a:t>
            </a:r>
            <a:br/>
            <a:r>
              <a:t>- Bundle Exception: Expensive main device bundles (e.g. 'Galaxy S24 Ultra with Charger' &gt; Rs. 8,000) are protected from deletion.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64592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6248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C2541"/>
                </a:solidFill>
                <a:latin typeface="Arial"/>
              </a:defRPr>
            </a:pPr>
            <a:r>
              <a:t>Dynamic Price Outlier Rejection</a:t>
            </a:r>
          </a:p>
          <a:p>
            <a:pPr>
              <a:lnSpc>
                <a:spcPct val="13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Analyzes price distribution dynamically upon scrape completion.</a:t>
            </a:r>
            <a:br/>
            <a:r>
              <a:t/>
            </a:r>
            <a:br/>
            <a:r>
              <a:t>- Detection Threshold: Active when high-value items (priced &gt; Rs. 15,000) are found.</a:t>
            </a:r>
            <a:br/>
            <a:r>
              <a:t>- Outlier Rule: Automatically rejects any scraped result priced below 12% of the maximum price AND under Rs. 8,000.</a:t>
            </a:r>
            <a:br/>
            <a:r>
              <a:t>- Result: Keeps results clean, eliminating cheap accessories and unrelated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solidFill>
              <a:srgbClr val="F4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PRECISION MATCHING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C2541"/>
                </a:solidFill>
                <a:latin typeface="Arial"/>
              </a:defRPr>
            </a:pPr>
            <a:r>
              <a:t>RAM &amp; Storage Extraction</a:t>
            </a:r>
          </a:p>
          <a:p>
            <a:pPr>
              <a:lnSpc>
                <a:spcPct val="13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Independent parsing of RAM (e.g. 8GB vs 12GB) and storage capacity (128GB vs 256GB vs 1TB).</a:t>
            </a:r>
            <a:br/>
            <a:r>
              <a:t/>
            </a:r>
            <a:br/>
            <a:r>
              <a:t>Rule: Matches are strictly rejected if either RAM or Storage specs differ, ensuring different sub-configurations are compared separately.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64592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6248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C2541"/>
                </a:solidFill>
                <a:latin typeface="Arial"/>
              </a:defRPr>
            </a:pPr>
            <a:r>
              <a:t>Generational Model Validation</a:t>
            </a:r>
          </a:p>
          <a:p>
            <a:pPr>
              <a:lnSpc>
                <a:spcPct val="13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Specific regex checks targeting model families (e.g. S24 vs S25, iPhone 15 vs 16, OnePlus 11R vs 12R).</a:t>
            </a:r>
            <a:br/>
            <a:r>
              <a:t/>
            </a:r>
            <a:br/>
            <a:r>
              <a:t>Rule: Mismatches block pairs with high string similarity from matching, solving cross-generational false positive comparisons.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solidFill>
              <a:srgbClr val="F4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2541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4231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A506B"/>
                </a:solidFill>
                <a:latin typeface="Arial"/>
              </a:defRPr>
            </a:pPr>
            <a:r>
              <a:t>Frontend</a:t>
            </a:r>
          </a:p>
          <a:p>
            <a:pPr>
              <a:lnSpc>
                <a:spcPct val="14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React (v18)</a:t>
            </a:r>
            <a:br/>
            <a:r>
              <a:t>Tailwind CSS (v3)</a:t>
            </a:r>
            <a:br/>
            <a:r>
              <a:t>Vite (v5)</a:t>
            </a:r>
            <a:br/>
            <a:r>
              <a:t>Axios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645920"/>
            <a:ext cx="24231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66744" y="182880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A506B"/>
                </a:solidFill>
                <a:latin typeface="Arial"/>
              </a:defRPr>
            </a:pPr>
            <a:r>
              <a:t>Backend Core</a:t>
            </a:r>
          </a:p>
          <a:p>
            <a:pPr>
              <a:lnSpc>
                <a:spcPct val="14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FastAPI Server</a:t>
            </a:r>
            <a:br/>
            <a:r>
              <a:t>Python 3.11+</a:t>
            </a:r>
            <a:br/>
            <a:r>
              <a:t>Uvicorn Reloader</a:t>
            </a:r>
            <a:br/>
            <a:r>
              <a:t>Pydantic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645920"/>
            <a:ext cx="24231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8" y="182880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A506B"/>
                </a:solidFill>
                <a:latin typeface="Arial"/>
              </a:defRPr>
            </a:pPr>
            <a:r>
              <a:t>Database / Cache</a:t>
            </a:r>
          </a:p>
          <a:p>
            <a:pPr>
              <a:lnSpc>
                <a:spcPct val="14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SQLite database</a:t>
            </a:r>
            <a:br/>
            <a:r>
              <a:t>SQLAlchemy ORM</a:t>
            </a:r>
            <a:br/>
            <a:r>
              <a:t>Query History logging</a:t>
            </a:r>
            <a:br/>
            <a:r>
              <a:t>JSON cache strings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992" y="1645920"/>
            <a:ext cx="24231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182880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3A506B"/>
                </a:solidFill>
                <a:latin typeface="Arial"/>
              </a:defRPr>
            </a:pPr>
            <a:r>
              <a:t>Scraping &amp; Match</a:t>
            </a:r>
          </a:p>
          <a:p>
            <a:pPr>
              <a:lnSpc>
                <a:spcPct val="140000"/>
              </a:lnSpc>
              <a:defRPr sz="1400">
                <a:solidFill>
                  <a:srgbClr val="141928"/>
                </a:solidFill>
                <a:latin typeface="Arial"/>
              </a:defRPr>
            </a:pPr>
            <a:r>
              <a:t>Selenium WebDriver</a:t>
            </a:r>
            <a:br/>
            <a:r>
              <a:t>BeautifulSoup4</a:t>
            </a:r>
            <a:br/>
            <a:r>
              <a:t>RapidFuzz matching</a:t>
            </a:r>
            <a:br/>
            <a:r>
              <a:t>Anti-bot rotation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262</Words>
  <Application>Microsoft Office PowerPoint</Application>
  <PresentationFormat>Custom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2026-06-26T05:11:29Z</dcterms:modified>
  <cp:category/>
</cp:coreProperties>
</file>